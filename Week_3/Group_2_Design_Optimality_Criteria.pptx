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4bb4cf736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g3a4bb4cf736_4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566344862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g3a566344862_4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a4bb4cf736_4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g3a4bb4cf736_4_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a4bb4cf736_4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g3a4bb4cf736_4_1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a4bb4cf736_4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g3a4bb4cf736_4_2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4b31466e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a4b31466e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566344862_4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a566344862_4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566344862_4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a566344862_4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4b31466e5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a4b31466e5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566344862_4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a566344862_4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4bb4cf736_4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a4bb4cf736_4_2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566344862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a566344862_3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566344862_3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a566344862_3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566344862_3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a566344862_3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566344862_3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a566344862_3_1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566344862_3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a566344862_3_2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566344862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a566344862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4bb4cf736_4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a4bb4cf736_4_3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4bb4cf736_4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3a4bb4cf736_4_3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558431"/>
            <a:ext cx="8520600" cy="1539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Design via Optimality Criteria: MSE</a:t>
            </a:r>
            <a:endParaRPr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2125594"/>
            <a:ext cx="8520600" cy="59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114285"/>
              <a:buNone/>
            </a:pPr>
            <a:r>
              <a:rPr lang="en">
                <a:solidFill>
                  <a:srgbClr val="888888"/>
                </a:solidFill>
              </a:rPr>
              <a:t>Case Study – Sun Sail Computer Experiment</a:t>
            </a:r>
            <a:endParaRPr>
              <a:solidFill>
                <a:srgbClr val="888888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114285"/>
              <a:buNone/>
            </a:pPr>
            <a:r>
              <a:rPr lang="en">
                <a:solidFill>
                  <a:srgbClr val="888888"/>
                </a:solidFill>
              </a:rPr>
              <a:t>By Group 2</a:t>
            </a:r>
            <a:endParaRPr>
              <a:solidFill>
                <a:srgbClr val="888888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ctrTitle"/>
          </p:nvPr>
        </p:nvSpPr>
        <p:spPr>
          <a:xfrm>
            <a:off x="311708" y="1665656"/>
            <a:ext cx="85206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" sz="4400">
                <a:latin typeface="Calibri"/>
                <a:ea typeface="Calibri"/>
                <a:cs typeface="Calibri"/>
                <a:sym typeface="Calibri"/>
              </a:rPr>
              <a:t>Goal: Construct a set of design points that minimizes the surrogate model’s prediction error (MSE)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an Optimal Design?</a:t>
            </a:r>
            <a:endParaRPr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Choose input points (design) for the expensive computer model.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Number of computer model runs is</a:t>
            </a: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limited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(n &lt; 200). So our choice of design points must be efficient.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MSE Optimality Criterion</a:t>
            </a:r>
            <a:endParaRPr/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Minimize Mean Squared Error of surrogate predictions</a:t>
            </a:r>
            <a:endParaRPr>
              <a:solidFill>
                <a:schemeClr val="lt2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Ensures accurate global approximation across parameter space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Use MSE Optimality?</a:t>
            </a:r>
            <a:endParaRPr/>
          </a:p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Good global coverage of design space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Avoids large uncertainty regions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Ideal for Gaussian Processes / Kriging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type="title"/>
          </p:nvPr>
        </p:nvSpPr>
        <p:spPr>
          <a:xfrm>
            <a:off x="311700" y="194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latin typeface="Calibri"/>
                <a:ea typeface="Calibri"/>
                <a:cs typeface="Calibri"/>
                <a:sym typeface="Calibri"/>
              </a:rPr>
              <a:t>What is MSE and why it matters?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Deterministic model: </a:t>
            </a:r>
            <a:r>
              <a:rPr b="1" lang="e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GP variance</a:t>
            </a:r>
            <a:r>
              <a:rPr b="1" lang="e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MSE</a:t>
            </a:r>
            <a:endParaRPr b="1"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FEM model has no noise</a:t>
            </a:r>
            <a:br>
              <a:rPr b="1"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deterministic simulators:</a:t>
            </a:r>
            <a:b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MSE = Variance</a:t>
            </a:r>
            <a:b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Minimizing MSE = minimizing prediction uncertainty</a:t>
            </a:r>
            <a:br>
              <a:rPr b="1"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11700" y="194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latin typeface="Calibri"/>
                <a:ea typeface="Calibri"/>
                <a:cs typeface="Calibri"/>
                <a:sym typeface="Calibri"/>
              </a:rPr>
              <a:t>What is MSE and why it matters?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b="1"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MSE focuses on global accuracy</a:t>
            </a:r>
            <a:endParaRPr b="1"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just accuracy at sampled points</a:t>
            </a:r>
            <a:b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Ensures the surrogate is good everywhere in the input space</a:t>
            </a:r>
            <a:b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Critical when parameters vary widely</a:t>
            </a:r>
            <a:endParaRPr b="1"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ctrTitle"/>
          </p:nvPr>
        </p:nvSpPr>
        <p:spPr>
          <a:xfrm>
            <a:off x="401308" y="29131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rPr b="1" lang="en" sz="2300">
                <a:latin typeface="Calibri"/>
                <a:ea typeface="Calibri"/>
                <a:cs typeface="Calibri"/>
                <a:sym typeface="Calibri"/>
              </a:rPr>
              <a:t>Essential for downstream tasks</a:t>
            </a:r>
            <a:endParaRPr b="1" sz="2300">
              <a:latin typeface="Calibri"/>
              <a:ea typeface="Calibri"/>
              <a:cs typeface="Calibri"/>
              <a:sym typeface="Calibri"/>
            </a:endParaRPr>
          </a:p>
          <a:p>
            <a:pPr indent="-34861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Calibri"/>
              <a:buChar char="●"/>
            </a:pPr>
            <a:r>
              <a:rPr lang="en" sz="2100">
                <a:latin typeface="Calibri"/>
                <a:ea typeface="Calibri"/>
                <a:cs typeface="Calibri"/>
                <a:sym typeface="Calibri"/>
              </a:rPr>
              <a:t>Lower MSE ⇒ more reliable:</a:t>
            </a:r>
            <a:br>
              <a:rPr lang="en" sz="2100">
                <a:latin typeface="Calibri"/>
                <a:ea typeface="Calibri"/>
                <a:cs typeface="Calibri"/>
                <a:sym typeface="Calibri"/>
              </a:rPr>
            </a:b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-34861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Char char="○"/>
            </a:pPr>
            <a:r>
              <a:rPr lang="en" sz="2100">
                <a:latin typeface="Calibri"/>
                <a:ea typeface="Calibri"/>
                <a:cs typeface="Calibri"/>
                <a:sym typeface="Calibri"/>
              </a:rPr>
              <a:t>Failure probability estimation</a:t>
            </a:r>
            <a:br>
              <a:rPr lang="en" sz="2100">
                <a:latin typeface="Calibri"/>
                <a:ea typeface="Calibri"/>
                <a:cs typeface="Calibri"/>
                <a:sym typeface="Calibri"/>
              </a:rPr>
            </a:b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-34861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Char char="○"/>
            </a:pPr>
            <a:r>
              <a:rPr lang="en" sz="2100">
                <a:latin typeface="Calibri"/>
                <a:ea typeface="Calibri"/>
                <a:cs typeface="Calibri"/>
                <a:sym typeface="Calibri"/>
              </a:rPr>
              <a:t>Uncertainty analysis</a:t>
            </a:r>
            <a:br>
              <a:rPr lang="en" sz="2100">
                <a:latin typeface="Calibri"/>
                <a:ea typeface="Calibri"/>
                <a:cs typeface="Calibri"/>
                <a:sym typeface="Calibri"/>
              </a:rPr>
            </a:b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-297814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57671"/>
              <a:buFont typeface="Calibri"/>
              <a:buChar char="○"/>
            </a:pPr>
            <a:r>
              <a:rPr lang="en" sz="2100">
                <a:latin typeface="Calibri"/>
                <a:ea typeface="Calibri"/>
                <a:cs typeface="Calibri"/>
                <a:sym typeface="Calibri"/>
              </a:rPr>
              <a:t>Sensitivity analysis</a:t>
            </a:r>
            <a:br>
              <a:rPr lang="en" sz="1211">
                <a:latin typeface="Calibri"/>
                <a:ea typeface="Calibri"/>
                <a:cs typeface="Calibri"/>
                <a:sym typeface="Calibri"/>
              </a:rPr>
            </a:br>
            <a:endParaRPr sz="1211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11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</p:txBody>
      </p:sp>
      <p:sp>
        <p:nvSpPr>
          <p:cNvPr id="102" name="Google Shape;102;p21"/>
          <p:cNvSpPr txBox="1"/>
          <p:nvPr/>
        </p:nvSpPr>
        <p:spPr>
          <a:xfrm>
            <a:off x="347525" y="250900"/>
            <a:ext cx="79392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latin typeface="Calibri"/>
                <a:ea typeface="Calibri"/>
                <a:cs typeface="Calibri"/>
                <a:sym typeface="Calibri"/>
              </a:rPr>
              <a:t>Why MSE is the right criterion?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ctrTitle"/>
          </p:nvPr>
        </p:nvSpPr>
        <p:spPr>
          <a:xfrm>
            <a:off x="401308" y="29131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1211">
                <a:latin typeface="Calibri"/>
                <a:ea typeface="Calibri"/>
                <a:cs typeface="Calibri"/>
                <a:sym typeface="Calibri"/>
              </a:rPr>
            </a:br>
            <a:endParaRPr sz="2322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522">
                <a:latin typeface="Calibri"/>
                <a:ea typeface="Calibri"/>
                <a:cs typeface="Calibri"/>
                <a:sym typeface="Calibri"/>
              </a:rPr>
              <a:t>Best match for Gaussian Processes</a:t>
            </a:r>
            <a:endParaRPr b="1" sz="2522">
              <a:latin typeface="Calibri"/>
              <a:ea typeface="Calibri"/>
              <a:cs typeface="Calibri"/>
              <a:sym typeface="Calibri"/>
            </a:endParaRPr>
          </a:p>
          <a:p>
            <a:pPr indent="-361314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2322">
                <a:latin typeface="Calibri"/>
                <a:ea typeface="Calibri"/>
                <a:cs typeface="Calibri"/>
                <a:sym typeface="Calibri"/>
              </a:rPr>
              <a:t>MSE is the </a:t>
            </a:r>
            <a:r>
              <a:rPr b="1" lang="en" sz="2322">
                <a:latin typeface="Calibri"/>
                <a:ea typeface="Calibri"/>
                <a:cs typeface="Calibri"/>
                <a:sym typeface="Calibri"/>
              </a:rPr>
              <a:t>theoretically appropriate</a:t>
            </a:r>
            <a:r>
              <a:rPr lang="en" sz="2322">
                <a:latin typeface="Calibri"/>
                <a:ea typeface="Calibri"/>
                <a:cs typeface="Calibri"/>
                <a:sym typeface="Calibri"/>
              </a:rPr>
              <a:t> loss for GP regression</a:t>
            </a:r>
            <a:br>
              <a:rPr lang="en" sz="2322">
                <a:latin typeface="Calibri"/>
                <a:ea typeface="Calibri"/>
                <a:cs typeface="Calibri"/>
                <a:sym typeface="Calibri"/>
              </a:rPr>
            </a:br>
            <a:endParaRPr sz="2322">
              <a:latin typeface="Calibri"/>
              <a:ea typeface="Calibri"/>
              <a:cs typeface="Calibri"/>
              <a:sym typeface="Calibri"/>
            </a:endParaRPr>
          </a:p>
          <a:p>
            <a:pPr indent="-36131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Char char="●"/>
            </a:pPr>
            <a:r>
              <a:rPr lang="en" sz="2322">
                <a:latin typeface="Calibri"/>
                <a:ea typeface="Calibri"/>
                <a:cs typeface="Calibri"/>
                <a:sym typeface="Calibri"/>
              </a:rPr>
              <a:t>Other criteria (A-optimality, D-optimality) are not suitable for surrogate modeling</a:t>
            </a:r>
            <a:br>
              <a:rPr lang="en" sz="2322">
                <a:latin typeface="Calibri"/>
                <a:ea typeface="Calibri"/>
                <a:cs typeface="Calibri"/>
                <a:sym typeface="Calibri"/>
              </a:rPr>
            </a:br>
            <a:endParaRPr sz="2322">
              <a:latin typeface="Calibri"/>
              <a:ea typeface="Calibri"/>
              <a:cs typeface="Calibri"/>
              <a:sym typeface="Calibri"/>
            </a:endParaRPr>
          </a:p>
          <a:p>
            <a:pPr indent="-36131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322">
                <a:latin typeface="Calibri"/>
                <a:ea typeface="Calibri"/>
                <a:cs typeface="Calibri"/>
                <a:sym typeface="Calibri"/>
              </a:rPr>
              <a:t>MSE gives the </a:t>
            </a:r>
            <a:r>
              <a:rPr b="1" lang="en" sz="2322">
                <a:latin typeface="Calibri"/>
                <a:ea typeface="Calibri"/>
                <a:cs typeface="Calibri"/>
                <a:sym typeface="Calibri"/>
              </a:rPr>
              <a:t>lowest global prediction error</a:t>
            </a:r>
            <a:endParaRPr sz="2322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</p:txBody>
      </p:sp>
      <p:sp>
        <p:nvSpPr>
          <p:cNvPr id="108" name="Google Shape;108;p22"/>
          <p:cNvSpPr txBox="1"/>
          <p:nvPr/>
        </p:nvSpPr>
        <p:spPr>
          <a:xfrm>
            <a:off x="347525" y="250900"/>
            <a:ext cx="79392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latin typeface="Calibri"/>
                <a:ea typeface="Calibri"/>
                <a:cs typeface="Calibri"/>
                <a:sym typeface="Calibri"/>
              </a:rPr>
              <a:t>Why MSE is the right criterion?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/>
          <p:nvPr>
            <p:ph type="title"/>
          </p:nvPr>
        </p:nvSpPr>
        <p:spPr>
          <a:xfrm>
            <a:off x="356500" y="203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latin typeface="Calibri"/>
                <a:ea typeface="Calibri"/>
                <a:cs typeface="Calibri"/>
                <a:sym typeface="Calibri"/>
              </a:rPr>
              <a:t>Benefits of minimizing MSE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3"/>
          <p:cNvSpPr txBox="1"/>
          <p:nvPr>
            <p:ph idx="1" type="body"/>
          </p:nvPr>
        </p:nvSpPr>
        <p:spPr>
          <a:xfrm>
            <a:off x="311700" y="12241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Produces better design points</a:t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Minimizing MSE naturally leads to </a:t>
            </a:r>
            <a:r>
              <a:rPr b="1"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space-filling</a:t>
            </a: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designs</a:t>
            </a:r>
            <a:b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avoids clustering</a:t>
            </a:r>
            <a:b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covers the entire parameter space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4"/>
          <p:cNvSpPr txBox="1"/>
          <p:nvPr>
            <p:ph type="title"/>
          </p:nvPr>
        </p:nvSpPr>
        <p:spPr>
          <a:xfrm>
            <a:off x="356500" y="203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latin typeface="Calibri"/>
                <a:ea typeface="Calibri"/>
                <a:cs typeface="Calibri"/>
                <a:sym typeface="Calibri"/>
              </a:rPr>
              <a:t>Benefits of minimizing MSE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4"/>
          <p:cNvSpPr txBox="1"/>
          <p:nvPr>
            <p:ph idx="1" type="body"/>
          </p:nvPr>
        </p:nvSpPr>
        <p:spPr>
          <a:xfrm>
            <a:off x="311700" y="12241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Essential for downstream tasks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Lower MSE ⇒ more reliable:</a:t>
            </a:r>
            <a:b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○"/>
            </a:pP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Failure probability estimation</a:t>
            </a:r>
            <a:b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○"/>
            </a:pP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Uncertainty analysis</a:t>
            </a:r>
            <a:b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○"/>
            </a:pP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Sensitivity analysis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5"/>
          <p:cNvSpPr txBox="1"/>
          <p:nvPr>
            <p:ph type="title"/>
          </p:nvPr>
        </p:nvSpPr>
        <p:spPr>
          <a:xfrm>
            <a:off x="378675" y="543654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Methods for Achieving MSE-Optimal Designs</a:t>
            </a:r>
            <a:endParaRPr/>
          </a:p>
        </p:txBody>
      </p:sp>
      <p:sp>
        <p:nvSpPr>
          <p:cNvPr id="126" name="Google Shape;126;p25"/>
          <p:cNvSpPr txBox="1"/>
          <p:nvPr>
            <p:ph idx="1" type="body"/>
          </p:nvPr>
        </p:nvSpPr>
        <p:spPr>
          <a:xfrm>
            <a:off x="378675" y="1798250"/>
            <a:ext cx="8229600" cy="31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Space-filling designs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Gaussian Process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latin typeface="Calibri"/>
                <a:ea typeface="Calibri"/>
                <a:cs typeface="Calibri"/>
                <a:sym typeface="Calibri"/>
              </a:rPr>
              <a:t>Space filling design</a:t>
            </a:r>
            <a:endParaRPr/>
          </a:p>
        </p:txBody>
      </p:sp>
      <p:sp>
        <p:nvSpPr>
          <p:cNvPr id="132" name="Google Shape;132;p26"/>
          <p:cNvSpPr txBox="1"/>
          <p:nvPr>
            <p:ph idx="1" type="body"/>
          </p:nvPr>
        </p:nvSpPr>
        <p:spPr>
          <a:xfrm>
            <a:off x="457200" y="1476300"/>
            <a:ext cx="8229600" cy="31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Here, we choose the design points so that they are spread out as evenly as possible across the whole input parameter space.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7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latin typeface="Calibri"/>
                <a:ea typeface="Calibri"/>
                <a:cs typeface="Calibri"/>
                <a:sym typeface="Calibri"/>
              </a:rPr>
              <a:t>Space filling design</a:t>
            </a:r>
            <a:endParaRPr/>
          </a:p>
        </p:txBody>
      </p:sp>
      <p:sp>
        <p:nvSpPr>
          <p:cNvPr id="138" name="Google Shape;138;p27"/>
          <p:cNvSpPr txBox="1"/>
          <p:nvPr>
            <p:ph idx="1" type="body"/>
          </p:nvPr>
        </p:nvSpPr>
        <p:spPr>
          <a:xfrm>
            <a:off x="457200" y="1063375"/>
            <a:ext cx="8229600" cy="31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42900" rtl="0" algn="l">
              <a:lnSpc>
                <a:spcPct val="95000"/>
              </a:lnSpc>
              <a:spcBef>
                <a:spcPts val="640"/>
              </a:spcBef>
              <a:spcAft>
                <a:spcPts val="0"/>
              </a:spcAft>
              <a:buSzPts val="1018"/>
              <a:buNone/>
            </a:pPr>
            <a:r>
              <a:rPr lang="en" sz="266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Imagine, the input parameter space is a hypercube, then</a:t>
            </a:r>
            <a:endParaRPr sz="26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7510" lvl="0" marL="457200" rtl="0" algn="l">
              <a:lnSpc>
                <a:spcPct val="9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660"/>
              <a:buFont typeface="Calibri"/>
              <a:buChar char="●"/>
            </a:pPr>
            <a:r>
              <a:rPr lang="en" sz="266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large gaps exist in this hypercube.</a:t>
            </a:r>
            <a:endParaRPr sz="26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751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0"/>
              <a:buFont typeface="Calibri"/>
              <a:buChar char="●"/>
            </a:pPr>
            <a:r>
              <a:rPr lang="en" sz="266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points cluster together.</a:t>
            </a:r>
            <a:endParaRPr sz="26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5000"/>
              </a:lnSpc>
              <a:spcBef>
                <a:spcPts val="640"/>
              </a:spcBef>
              <a:spcAft>
                <a:spcPts val="0"/>
              </a:spcAft>
              <a:buSzPts val="1018"/>
              <a:buNone/>
            </a:pPr>
            <a:r>
              <a:rPr lang="en" sz="266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Random sampling </a:t>
            </a:r>
            <a:r>
              <a:rPr b="1" lang="en" sz="266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does not ensure</a:t>
            </a:r>
            <a:r>
              <a:rPr lang="en" sz="266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66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</a:t>
            </a:r>
            <a:r>
              <a:rPr lang="en" sz="266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above two.</a:t>
            </a:r>
            <a:endParaRPr sz="26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rtl="0" algn="l">
              <a:lnSpc>
                <a:spcPct val="95000"/>
              </a:lnSpc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2960"/>
              <a:buNone/>
            </a:pPr>
            <a:r>
              <a:t/>
            </a:r>
            <a:endParaRPr sz="26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9" name="Google Shape;13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7850" y="3277200"/>
            <a:ext cx="3869625" cy="177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latin typeface="Calibri"/>
                <a:ea typeface="Calibri"/>
                <a:cs typeface="Calibri"/>
                <a:sym typeface="Calibri"/>
              </a:rPr>
              <a:t>Latin Hypercube sampling</a:t>
            </a:r>
            <a:endParaRPr/>
          </a:p>
        </p:txBody>
      </p:sp>
      <p:sp>
        <p:nvSpPr>
          <p:cNvPr id="145" name="Google Shape;145;p28"/>
          <p:cNvSpPr txBox="1"/>
          <p:nvPr>
            <p:ph idx="1" type="body"/>
          </p:nvPr>
        </p:nvSpPr>
        <p:spPr>
          <a:xfrm>
            <a:off x="457200" y="1476300"/>
            <a:ext cx="8229600" cy="31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Imagine a hypercube with d sides and each side has a unit length. This unit </a:t>
            </a:r>
            <a:r>
              <a:rPr lang="en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length</a:t>
            </a:r>
            <a:r>
              <a:rPr lang="en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represents the probability function, not the actual input.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3200"/>
              <a:buNone/>
            </a:pPr>
            <a:r>
              <a:rPr lang="en" sz="30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" sz="30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30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- number of dimensions, in this case 7.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9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latin typeface="Calibri"/>
                <a:ea typeface="Calibri"/>
                <a:cs typeface="Calibri"/>
                <a:sym typeface="Calibri"/>
              </a:rPr>
              <a:t>Latin Hypercube sampling</a:t>
            </a:r>
            <a:endParaRPr/>
          </a:p>
        </p:txBody>
      </p:sp>
      <p:sp>
        <p:nvSpPr>
          <p:cNvPr id="151" name="Google Shape;151;p29"/>
          <p:cNvSpPr txBox="1"/>
          <p:nvPr>
            <p:ph idx="1" type="body"/>
          </p:nvPr>
        </p:nvSpPr>
        <p:spPr>
          <a:xfrm>
            <a:off x="457200" y="1476300"/>
            <a:ext cx="8229600" cy="31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10000"/>
          </a:bodyPr>
          <a:lstStyle/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6666"/>
              <a:buNone/>
            </a:pPr>
            <a:r>
              <a:rPr lang="en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sample points [0,1]^d that evenly cover the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6666"/>
              <a:buNone/>
            </a:pPr>
            <a:r>
              <a:rPr lang="en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probability</a:t>
            </a:r>
            <a:r>
              <a:rPr lang="en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space, ie by assuming a uniform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6666"/>
              <a:buNone/>
            </a:pPr>
            <a:r>
              <a:rPr lang="en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distribution in [0,1].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6666"/>
              <a:buNone/>
            </a:pPr>
            <a:r>
              <a:t/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6666"/>
              <a:buNone/>
            </a:pPr>
            <a:r>
              <a:rPr lang="en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go back from the probability space to the actual input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6666"/>
              <a:buNone/>
            </a:pPr>
            <a:r>
              <a:rPr lang="en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parameter</a:t>
            </a:r>
            <a:r>
              <a:rPr lang="en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apply the inverse cumulative distribution function </a:t>
            </a:r>
            <a:r>
              <a:rPr i="1" lang="en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(of each</a:t>
            </a:r>
            <a:endParaRPr i="1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106666"/>
              <a:buNone/>
            </a:pPr>
            <a:r>
              <a:rPr i="1" lang="en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parameter’s true distribution)</a:t>
            </a:r>
            <a:r>
              <a:rPr lang="en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each coordinate.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0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" sz="4400">
                <a:latin typeface="Calibri"/>
                <a:ea typeface="Calibri"/>
                <a:cs typeface="Calibri"/>
                <a:sym typeface="Calibri"/>
              </a:rPr>
              <a:t>Latin Hypercube sampling - To summarise</a:t>
            </a:r>
            <a:endParaRPr/>
          </a:p>
        </p:txBody>
      </p:sp>
      <p:sp>
        <p:nvSpPr>
          <p:cNvPr id="157" name="Google Shape;157;p30"/>
          <p:cNvSpPr txBox="1"/>
          <p:nvPr>
            <p:ph idx="1" type="body"/>
          </p:nvPr>
        </p:nvSpPr>
        <p:spPr>
          <a:xfrm>
            <a:off x="504300" y="2261575"/>
            <a:ext cx="8229600" cy="31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None/>
            </a:pPr>
            <a:r>
              <a:rPr lang="en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a result, we get a set of input design points that covers the input space uniformly in terms of </a:t>
            </a:r>
            <a:r>
              <a:rPr lang="en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probability.</a:t>
            </a:r>
            <a:r>
              <a:rPr lang="en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MSE on Gaussian Process (or Kriging)</a:t>
            </a:r>
            <a:endParaRPr/>
          </a:p>
        </p:txBody>
      </p:sp>
      <p:sp>
        <p:nvSpPr>
          <p:cNvPr id="163" name="Google Shape;163;p31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/>
              <a:t>General:</a:t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In a computer experiment we may want to know f(x_1), f(x_2),.... </a:t>
            </a:r>
            <a:r>
              <a:rPr b="1" lang="en"/>
              <a:t>f(x_</a:t>
            </a:r>
            <a:r>
              <a:rPr b="1" i="1" lang="en"/>
              <a:t>N</a:t>
            </a:r>
            <a:r>
              <a:rPr b="1" lang="en"/>
              <a:t>)</a:t>
            </a:r>
            <a:r>
              <a:rPr lang="en"/>
              <a:t> but we only know </a:t>
            </a:r>
            <a:r>
              <a:rPr lang="en"/>
              <a:t>f(x_1), f(x_2),.... </a:t>
            </a:r>
            <a:r>
              <a:rPr b="1" lang="en"/>
              <a:t>f(x_n)</a:t>
            </a:r>
            <a:r>
              <a:rPr lang="en"/>
              <a:t> where </a:t>
            </a:r>
            <a:r>
              <a:rPr b="1" lang="en"/>
              <a:t>n&lt;</a:t>
            </a:r>
            <a:r>
              <a:rPr b="1" i="1" lang="en"/>
              <a:t>N</a:t>
            </a:r>
            <a:r>
              <a:rPr lang="en"/>
              <a:t>. We want to choose points with the minimum prediction uncertainty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To find optimal points for training a surrogate model we can use MSE. Simply choose input parameters with maximum uncertainty. 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Variance is decreased where we have samples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We can have an iterative procedure where we find new sample points until a stopping criterion is reached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Simple Kriging: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4" name="Google Shape;164;p31"/>
          <p:cNvPicPr preferRelativeResize="0"/>
          <p:nvPr/>
        </p:nvPicPr>
        <p:blipFill rotWithShape="1">
          <a:blip r:embed="rId3">
            <a:alphaModFix/>
          </a:blip>
          <a:srcRect b="0" l="1941" r="0" t="0"/>
          <a:stretch/>
        </p:blipFill>
        <p:spPr>
          <a:xfrm>
            <a:off x="3340550" y="3581925"/>
            <a:ext cx="5500300" cy="1475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31"/>
          <p:cNvSpPr txBox="1"/>
          <p:nvPr/>
        </p:nvSpPr>
        <p:spPr>
          <a:xfrm>
            <a:off x="457200" y="3990900"/>
            <a:ext cx="2839800" cy="11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en" sz="1500">
                <a:solidFill>
                  <a:schemeClr val="dk2"/>
                </a:solidFill>
              </a:rPr>
              <a:t>Weights are mathematically based on minimizing MSE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2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Application to Sun Sail Model</a:t>
            </a:r>
            <a:endParaRPr/>
          </a:p>
        </p:txBody>
      </p:sp>
      <p:sp>
        <p:nvSpPr>
          <p:cNvPr id="171" name="Google Shape;171;p32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2766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 parameters: Emem, νmem, σmem, fmem, cable stresses, etc.</a:t>
            </a:r>
            <a:endParaRPr/>
          </a:p>
          <a:p>
            <a:pPr indent="-32766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Output: maximum membrane Cauchy stress</a:t>
            </a:r>
            <a:endParaRPr/>
          </a:p>
          <a:p>
            <a:pPr indent="-32766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MSE-optimal design to improve surrogate model’s accuracy.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Summary</a:t>
            </a:r>
            <a:endParaRPr/>
          </a:p>
        </p:txBody>
      </p:sp>
      <p:sp>
        <p:nvSpPr>
          <p:cNvPr id="177" name="Google Shape;177;p33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Designed an 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MSE-optimal experimental design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the Sun Sail computer model</a:t>
            </a:r>
            <a:b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Objective: 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minimize surrogate model prediction uncertainty (MSE/variance)</a:t>
            </a:r>
            <a:b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Method: 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iteratively add points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where GP prediction variance is highest</a:t>
            </a:r>
            <a:b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Achieves 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better global accuracy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with fewer simulation runs</a:t>
            </a:r>
            <a:b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Produces a 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more reliable surrogate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stress prediction, uncertainty analysis, and sensitivity analysis</a:t>
            </a:r>
            <a:b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