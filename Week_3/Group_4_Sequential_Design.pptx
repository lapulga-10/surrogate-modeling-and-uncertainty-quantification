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Helvetica Neue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HelveticaNeue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6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45a4d9d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45a4d9d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4aa1e02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4aa1e02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49cd7d4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49cd7d4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49cd7d492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49cd7d492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45a4d9d7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45a4d9d7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45a4d9d7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45a4d9d7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Sequential Design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Jiahui Fan , Ömercan Mısırlıoğlu ,Yordan Saputra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82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2941"/>
              <a:buFont typeface="Arial"/>
              <a:buNone/>
            </a:pPr>
            <a:r>
              <a:rPr b="1" lang="zh-CN" sz="2077"/>
              <a:t>What is Sequential Design?</a:t>
            </a:r>
            <a:endParaRPr b="1" sz="2077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789500"/>
            <a:ext cx="8520600" cy="41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CN" sz="1600">
                <a:solidFill>
                  <a:schemeClr val="dk1"/>
                </a:solidFill>
              </a:rPr>
              <a:t>It is a specific form of experiment, where information is collected in </a:t>
            </a:r>
            <a:r>
              <a:rPr b="1" lang="zh-CN" sz="1600">
                <a:solidFill>
                  <a:schemeClr val="dk1"/>
                </a:solidFill>
              </a:rPr>
              <a:t>subsequent stages </a:t>
            </a:r>
            <a:r>
              <a:rPr lang="zh-CN" sz="1600">
                <a:solidFill>
                  <a:schemeClr val="dk1"/>
                </a:solidFill>
              </a:rPr>
              <a:t>over time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CN" sz="1600">
                <a:solidFill>
                  <a:schemeClr val="dk1"/>
                </a:solidFill>
              </a:rPr>
              <a:t>U</a:t>
            </a:r>
            <a:r>
              <a:rPr lang="zh-CN" sz="1600">
                <a:solidFill>
                  <a:schemeClr val="dk1"/>
                </a:solidFill>
              </a:rPr>
              <a:t>nlike static designs, surrogate model is updated after each batch and new points based are selected based on uncertainty, error, or optimization needs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CN" sz="1600">
                <a:solidFill>
                  <a:schemeClr val="dk1"/>
                </a:solidFill>
              </a:rPr>
              <a:t>It combines the strengths of space-filling and adaptive learning while offering more efficiency, however, have certain disadvantages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chemeClr val="dk1"/>
                </a:solidFill>
              </a:rPr>
              <a:t>Pros: </a:t>
            </a:r>
            <a:r>
              <a:rPr lang="zh-CN" sz="1600">
                <a:solidFill>
                  <a:schemeClr val="dk1"/>
                </a:solidFill>
              </a:rPr>
              <a:t>More efficient use of sample budget, Adaptive, Flexible, Improved Accuracy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zh-CN" sz="1600">
                <a:solidFill>
                  <a:schemeClr val="dk1"/>
                </a:solidFill>
              </a:rPr>
              <a:t>Cons:</a:t>
            </a:r>
            <a:r>
              <a:rPr lang="zh-CN" sz="1600">
                <a:solidFill>
                  <a:schemeClr val="dk1"/>
                </a:solidFill>
              </a:rPr>
              <a:t> Higher complexity, early stage dependency, being harder to parallelize and risk of unbalanced exploration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0" y="103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000"/>
              <a:t>Why use Sequential Design in Sun Sail FEM?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50946" t="0"/>
          <a:stretch/>
        </p:blipFill>
        <p:spPr>
          <a:xfrm>
            <a:off x="4588500" y="2415300"/>
            <a:ext cx="3745126" cy="26618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4571988" y="875300"/>
            <a:ext cx="3932100" cy="123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GP Surrogate helps guide sampling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b="1" lang="zh-CN" sz="1100">
                <a:solidFill>
                  <a:schemeClr val="dk1"/>
                </a:solidFill>
              </a:rPr>
              <a:t>Prediction</a:t>
            </a:r>
            <a:r>
              <a:rPr lang="zh-CN" sz="1100">
                <a:solidFill>
                  <a:schemeClr val="dk1"/>
                </a:solidFill>
              </a:rPr>
              <a:t> of membrane stress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b="1" lang="zh-CN" sz="1100">
                <a:solidFill>
                  <a:schemeClr val="dk1"/>
                </a:solidFill>
              </a:rPr>
              <a:t>Uncertainty / variance σ²(x) </a:t>
            </a:r>
            <a:r>
              <a:rPr lang="zh-CN" sz="1100">
                <a:solidFill>
                  <a:schemeClr val="dk1"/>
                </a:solidFill>
              </a:rPr>
              <a:t>indicating where model is unsure.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32275" y="794225"/>
            <a:ext cx="4174500" cy="39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zh-CN" sz="1500">
                <a:solidFill>
                  <a:schemeClr val="dk1"/>
                </a:solidFill>
              </a:rPr>
              <a:t>Sun Sail FEM is expensive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200">
                <a:solidFill>
                  <a:schemeClr val="dk1"/>
                </a:solidFill>
              </a:rPr>
              <a:t>Geometric nonlinearity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200">
                <a:solidFill>
                  <a:schemeClr val="dk1"/>
                </a:solidFill>
              </a:rPr>
              <a:t>Cauchy stress evaluation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200">
                <a:solidFill>
                  <a:schemeClr val="dk1"/>
                </a:solidFill>
              </a:rPr>
              <a:t>Iterative nonlinear solver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200">
                <a:solidFill>
                  <a:schemeClr val="dk1"/>
                </a:solidFill>
              </a:rPr>
              <a:t>Each run takes seconds–minute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zh-CN" sz="1500">
                <a:solidFill>
                  <a:schemeClr val="dk1"/>
                </a:solidFill>
              </a:rPr>
              <a:t>6D Input Space is large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200">
                <a:solidFill>
                  <a:schemeClr val="dk1"/>
                </a:solidFill>
              </a:rPr>
              <a:t>Six uncertain parameters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200">
                <a:solidFill>
                  <a:schemeClr val="dk1"/>
                </a:solidFill>
              </a:rPr>
              <a:t> </a:t>
            </a:r>
            <a:r>
              <a:rPr b="1" lang="zh-CN" sz="1200">
                <a:solidFill>
                  <a:schemeClr val="dk1"/>
                </a:solidFill>
              </a:rPr>
              <a:t>High-dimensional design space (6D)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200">
                <a:solidFill>
                  <a:schemeClr val="dk1"/>
                </a:solidFill>
              </a:rPr>
              <a:t>Flat regions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200">
                <a:solidFill>
                  <a:schemeClr val="dk1"/>
                </a:solidFill>
              </a:rPr>
              <a:t>Highly sensitive regions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0" name="Google Shape;70;p15" title="Unknown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2675" y="2475363"/>
            <a:ext cx="5392762" cy="254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275700" y="135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CN" sz="2000"/>
              <a:t>How does it work?（</a:t>
            </a:r>
            <a:r>
              <a:rPr b="1" lang="zh-CN" sz="1700"/>
              <a:t>Sequential Design Algorithm）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33300" y="574200"/>
            <a:ext cx="4346700" cy="39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43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AutoNum type="arabicPeriod"/>
            </a:pPr>
            <a:r>
              <a:rPr lang="zh-CN" sz="1035">
                <a:solidFill>
                  <a:schemeClr val="dk1"/>
                </a:solidFill>
              </a:rPr>
              <a:t>Start with a small but space-filling design.</a:t>
            </a:r>
            <a:endParaRPr sz="1035">
              <a:solidFill>
                <a:schemeClr val="dk1"/>
              </a:solidFill>
            </a:endParaRPr>
          </a:p>
          <a:p>
            <a:pPr indent="-294322" lvl="1" marL="809999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lang="zh-CN" sz="1035">
                <a:solidFill>
                  <a:schemeClr val="dk1"/>
                </a:solidFill>
              </a:rPr>
              <a:t>Since we know almost nothing about the system at the beginning, we need to pick input parameter combinations that cover the entire range of possibilities.</a:t>
            </a:r>
            <a:endParaRPr sz="1035">
              <a:solidFill>
                <a:schemeClr val="dk1"/>
              </a:solidFill>
            </a:endParaRPr>
          </a:p>
          <a:p>
            <a:pPr indent="-294322" lvl="1" marL="809999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lang="zh-CN" sz="1035">
                <a:solidFill>
                  <a:schemeClr val="dk1"/>
                </a:solidFill>
              </a:rPr>
              <a:t>A common method is Latin Hypercube Sampling (LHS), which ensures the points are evenly spread out across each input dimension.</a:t>
            </a:r>
            <a:endParaRPr sz="1035">
              <a:solidFill>
                <a:schemeClr val="dk1"/>
              </a:solidFill>
            </a:endParaRPr>
          </a:p>
          <a:p>
            <a:pPr indent="-294322" lvl="1" marL="809999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lang="zh-CN" sz="1035">
                <a:solidFill>
                  <a:schemeClr val="dk1"/>
                </a:solidFill>
              </a:rPr>
              <a:t>In our case, we have 6 input parameters and we start with 100 points chosen by LHS.</a:t>
            </a:r>
            <a:endParaRPr sz="1035">
              <a:solidFill>
                <a:schemeClr val="dk1"/>
              </a:solidFill>
            </a:endParaRPr>
          </a:p>
          <a:p>
            <a:pPr indent="-294322" lvl="1" marL="809999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lang="zh-CN" sz="1035">
                <a:solidFill>
                  <a:schemeClr val="dk1"/>
                </a:solidFill>
              </a:rPr>
              <a:t>Run the FEM solver for each of these 100 points to obtain the initial training data for the surrogate model.</a:t>
            </a:r>
            <a:endParaRPr sz="1035">
              <a:solidFill>
                <a:schemeClr val="dk1"/>
              </a:solidFill>
            </a:endParaRPr>
          </a:p>
          <a:p>
            <a:pPr indent="-2943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AutoNum type="arabicPeriod"/>
            </a:pPr>
            <a:r>
              <a:rPr lang="zh-CN" sz="1035">
                <a:solidFill>
                  <a:schemeClr val="dk1"/>
                </a:solidFill>
              </a:rPr>
              <a:t>Fit a Gaussian Process / Kriging surrogate model on the initial training data.</a:t>
            </a:r>
            <a:endParaRPr sz="1035">
              <a:solidFill>
                <a:schemeClr val="dk1"/>
              </a:solidFill>
            </a:endParaRPr>
          </a:p>
          <a:p>
            <a:pPr indent="-294322" lvl="1" marL="809999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lang="zh-CN" sz="1035">
                <a:solidFill>
                  <a:schemeClr val="dk1"/>
                </a:solidFill>
              </a:rPr>
              <a:t>The surrogate predicts the FEM output for any new input.</a:t>
            </a:r>
            <a:endParaRPr sz="1035">
              <a:solidFill>
                <a:schemeClr val="dk1"/>
              </a:solidFill>
            </a:endParaRPr>
          </a:p>
          <a:p>
            <a:pPr indent="-294322" lvl="1" marL="809999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lang="zh-CN" sz="1035">
                <a:solidFill>
                  <a:schemeClr val="dk1"/>
                </a:solidFill>
              </a:rPr>
              <a:t>It also provides a prediction uncertainty, indicating how confident it is in each prediction.</a:t>
            </a:r>
            <a:endParaRPr sz="1035">
              <a:solidFill>
                <a:schemeClr val="dk1"/>
              </a:solidFill>
            </a:endParaRPr>
          </a:p>
          <a:p>
            <a:pPr indent="-2943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AutoNum type="arabicPeriod"/>
            </a:pPr>
            <a:r>
              <a:rPr lang="zh-CN" sz="1035">
                <a:solidFill>
                  <a:schemeClr val="dk1"/>
                </a:solidFill>
              </a:rPr>
              <a:t>Identify regions where the surrogate shows high predictive uncertainty.</a:t>
            </a:r>
            <a:endParaRPr sz="1035">
              <a:solidFill>
                <a:schemeClr val="dk1"/>
              </a:solidFill>
            </a:endParaRPr>
          </a:p>
          <a:p>
            <a:pPr indent="-294322" lvl="1" marL="809999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lang="zh-CN" sz="1035">
                <a:solidFill>
                  <a:schemeClr val="dk1"/>
                </a:solidFill>
              </a:rPr>
              <a:t>Add new design points in the regions with high uncertainty.</a:t>
            </a:r>
            <a:endParaRPr sz="1035">
              <a:solidFill>
                <a:schemeClr val="dk1"/>
              </a:solidFill>
            </a:endParaRPr>
          </a:p>
          <a:p>
            <a:pPr indent="-294322" lvl="1" marL="809999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lang="zh-CN" sz="1035">
                <a:solidFill>
                  <a:schemeClr val="dk1"/>
                </a:solidFill>
              </a:rPr>
              <a:t>Select new 20 sample points in those regions, run the FEM solver, and add the new results to the training set.</a:t>
            </a:r>
            <a:endParaRPr sz="1035">
              <a:solidFill>
                <a:schemeClr val="dk1"/>
              </a:solidFill>
            </a:endParaRPr>
          </a:p>
          <a:p>
            <a:pPr indent="-294322" lvl="1" marL="809999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lang="zh-CN" sz="1035">
                <a:solidFill>
                  <a:schemeClr val="dk1"/>
                </a:solidFill>
              </a:rPr>
              <a:t>Refit the surrogate model with the updated dataset.</a:t>
            </a:r>
            <a:endParaRPr sz="1035">
              <a:solidFill>
                <a:schemeClr val="dk1"/>
              </a:solidFill>
            </a:endParaRPr>
          </a:p>
          <a:p>
            <a:pPr indent="-2943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AutoNum type="arabicPeriod"/>
            </a:pPr>
            <a:r>
              <a:rPr lang="zh-CN" sz="1035">
                <a:solidFill>
                  <a:schemeClr val="dk1"/>
                </a:solidFill>
              </a:rPr>
              <a:t>Repeat step 3 until simulation budgets is used up.</a:t>
            </a:r>
            <a:endParaRPr sz="1035">
              <a:solidFill>
                <a:schemeClr val="dk1"/>
              </a:solidFill>
            </a:endParaRPr>
          </a:p>
          <a:p>
            <a:pPr indent="-294322" lvl="1" marL="809999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lang="zh-CN" sz="1035">
                <a:solidFill>
                  <a:schemeClr val="dk1"/>
                </a:solidFill>
              </a:rPr>
              <a:t>Continue adding points in uncertain regions, running FEM, and updating the surrogate until all allowed simulations (200 runs) are completed.</a:t>
            </a:r>
            <a:endParaRPr sz="1035">
              <a:solidFill>
                <a:schemeClr val="dk1"/>
              </a:solidFill>
            </a:endParaRPr>
          </a:p>
          <a:p>
            <a:pPr indent="-294322" lvl="1" marL="809999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lang="zh-CN" sz="1035">
                <a:solidFill>
                  <a:schemeClr val="dk1"/>
                </a:solidFill>
              </a:rPr>
              <a:t>Note: The number of points at each step can be adjusted as needed.</a:t>
            </a:r>
            <a:endParaRPr sz="1035">
              <a:solidFill>
                <a:schemeClr val="dk1"/>
              </a:solidFill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4865700" y="802650"/>
            <a:ext cx="3966600" cy="17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100">
                <a:solidFill>
                  <a:schemeClr val="dk1"/>
                </a:solidFill>
              </a:rPr>
              <a:t>Minimizing Predictive Uncertainty (Core Idea)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Surrogate model: </a:t>
            </a:r>
            <a:r>
              <a:rPr b="1" lang="zh-CN" sz="1100">
                <a:solidFill>
                  <a:schemeClr val="dk1"/>
                </a:solidFill>
              </a:rPr>
              <a:t>Gaussian Process (GP)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GP provides</a:t>
            </a:r>
            <a:endParaRPr sz="1100">
              <a:solidFill>
                <a:schemeClr val="dk1"/>
              </a:solidFill>
            </a:endParaRPr>
          </a:p>
          <a:p>
            <a:pPr indent="-203200" lvl="1" marL="674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CN" sz="1100">
                <a:solidFill>
                  <a:schemeClr val="dk1"/>
                </a:solidFill>
              </a:rPr>
              <a:t>Prediction</a:t>
            </a:r>
            <a:r>
              <a:rPr lang="zh-CN" sz="1100">
                <a:solidFill>
                  <a:schemeClr val="dk1"/>
                </a:solidFill>
              </a:rPr>
              <a:t>: </a:t>
            </a:r>
            <a:r>
              <a:rPr lang="zh-CN" sz="1100">
                <a:solidFill>
                  <a:schemeClr val="dk1"/>
                </a:solidFill>
              </a:rPr>
              <a:t>ŷ(x)</a:t>
            </a:r>
            <a:endParaRPr sz="1100">
              <a:solidFill>
                <a:schemeClr val="dk1"/>
              </a:solidFill>
            </a:endParaRPr>
          </a:p>
          <a:p>
            <a:pPr indent="-203200" lvl="1" marL="674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CN" sz="1100">
                <a:solidFill>
                  <a:schemeClr val="dk1"/>
                </a:solidFill>
              </a:rPr>
              <a:t>Uncertainty</a:t>
            </a:r>
            <a:r>
              <a:rPr lang="zh-CN" sz="1100">
                <a:solidFill>
                  <a:schemeClr val="dk1"/>
                </a:solidFill>
              </a:rPr>
              <a:t>: variance </a:t>
            </a:r>
            <a:r>
              <a:rPr lang="zh-CN" sz="1100">
                <a:solidFill>
                  <a:schemeClr val="dk1"/>
                </a:solidFill>
              </a:rPr>
              <a:t>σ²(x)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Sequential Design chooses the next FEM run where:           x_next = arg max </a:t>
            </a:r>
            <a:r>
              <a:rPr lang="zh-CN" sz="1100">
                <a:solidFill>
                  <a:schemeClr val="dk1"/>
                </a:solidFill>
              </a:rPr>
              <a:t>σ²(x)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This strategy is known as </a:t>
            </a:r>
            <a:r>
              <a:rPr b="1" lang="zh-CN" sz="1100">
                <a:solidFill>
                  <a:schemeClr val="dk1"/>
                </a:solidFill>
              </a:rPr>
              <a:t>Active Learning MacKay (ALM) </a:t>
            </a:r>
            <a:r>
              <a:rPr lang="zh-CN" sz="1100">
                <a:solidFill>
                  <a:schemeClr val="dk1"/>
                </a:solidFill>
              </a:rPr>
              <a:t>(MacKay, 1992)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4865700" y="3102825"/>
            <a:ext cx="3966600" cy="17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900">
                <a:solidFill>
                  <a:schemeClr val="dk1"/>
                </a:solidFill>
              </a:rPr>
              <a:t>References</a:t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zh-CN" sz="90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MacKay, DJC. 1992. “Information-Based Objective Functions for Active Data Selection.” </a:t>
            </a:r>
            <a:r>
              <a:rPr i="1" lang="zh-CN" sz="90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Neural Computation</a:t>
            </a:r>
            <a:r>
              <a:rPr lang="zh-CN" sz="90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4 (4): 590–604.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24" y="699300"/>
            <a:ext cx="5438251" cy="40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CN" sz="2000"/>
              <a:t>How does it work?（</a:t>
            </a:r>
            <a:r>
              <a:rPr b="1" lang="zh-CN" sz="1700"/>
              <a:t>Sequential Design Algorithm）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976100"/>
            <a:ext cx="3966600" cy="31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700">
                <a:solidFill>
                  <a:schemeClr val="dk1"/>
                </a:solidFill>
              </a:rPr>
              <a:t>Minimizing Predictive Uncertainty (Core Idea)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Surrogate model: </a:t>
            </a:r>
            <a:r>
              <a:rPr b="1" lang="zh-CN" sz="1100">
                <a:solidFill>
                  <a:schemeClr val="dk1"/>
                </a:solidFill>
              </a:rPr>
              <a:t>Gaussian Process (GP)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GP provides</a:t>
            </a:r>
            <a:br>
              <a:rPr lang="zh-CN" sz="1100">
                <a:solidFill>
                  <a:schemeClr val="dk1"/>
                </a:solidFill>
              </a:rPr>
            </a:br>
            <a:r>
              <a:rPr lang="zh-CN" sz="1100">
                <a:solidFill>
                  <a:schemeClr val="dk1"/>
                </a:solidFill>
              </a:rPr>
              <a:t>• </a:t>
            </a:r>
            <a:r>
              <a:rPr b="1" lang="zh-CN" sz="1100">
                <a:solidFill>
                  <a:schemeClr val="dk1"/>
                </a:solidFill>
              </a:rPr>
              <a:t>Prediction</a:t>
            </a:r>
            <a:r>
              <a:rPr lang="zh-CN" sz="1100">
                <a:solidFill>
                  <a:schemeClr val="dk1"/>
                </a:solidFill>
              </a:rPr>
              <a:t>: \hat{y}(x)</a:t>
            </a:r>
            <a:br>
              <a:rPr lang="zh-CN" sz="1100">
                <a:solidFill>
                  <a:schemeClr val="dk1"/>
                </a:solidFill>
              </a:rPr>
            </a:br>
            <a:r>
              <a:rPr lang="zh-CN" sz="1100">
                <a:solidFill>
                  <a:schemeClr val="dk1"/>
                </a:solidFill>
              </a:rPr>
              <a:t>• </a:t>
            </a:r>
            <a:r>
              <a:rPr b="1" lang="zh-CN" sz="1100">
                <a:solidFill>
                  <a:schemeClr val="dk1"/>
                </a:solidFill>
              </a:rPr>
              <a:t>Uncertainty</a:t>
            </a:r>
            <a:r>
              <a:rPr lang="zh-CN" sz="1100">
                <a:solidFill>
                  <a:schemeClr val="dk1"/>
                </a:solidFill>
              </a:rPr>
              <a:t>: variance \sigma^2(x)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Sequential Design chooses the next FEM run where</a:t>
            </a:r>
            <a:br>
              <a:rPr lang="zh-CN" sz="1100">
                <a:solidFill>
                  <a:schemeClr val="dk1"/>
                </a:solidFill>
              </a:rPr>
            </a:br>
            <a:r>
              <a:rPr lang="zh-CN" sz="1100">
                <a:solidFill>
                  <a:schemeClr val="dk1"/>
                </a:solidFill>
              </a:rPr>
              <a:t>x_{\text{next}} = \arg\max_x \sigma^2(x)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This strategy is known as</a:t>
            </a:r>
            <a:br>
              <a:rPr lang="zh-CN" sz="1100">
                <a:solidFill>
                  <a:schemeClr val="dk1"/>
                </a:solidFill>
              </a:rPr>
            </a:br>
            <a:r>
              <a:rPr b="1" lang="zh-CN" sz="1100">
                <a:solidFill>
                  <a:schemeClr val="dk1"/>
                </a:solidFill>
              </a:rPr>
              <a:t>Active Learning MacKay (ALM)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4278300" y="830725"/>
            <a:ext cx="3987300" cy="20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700">
                <a:solidFill>
                  <a:schemeClr val="dk1"/>
                </a:solidFill>
              </a:rPr>
              <a:t>Sequential Design Algorithm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CN" sz="1100">
                <a:solidFill>
                  <a:schemeClr val="dk1"/>
                </a:solidFill>
              </a:rPr>
              <a:t>Initial design</a:t>
            </a:r>
            <a:r>
              <a:rPr lang="zh-CN" sz="1100">
                <a:solidFill>
                  <a:schemeClr val="dk1"/>
                </a:solidFill>
              </a:rPr>
              <a:t> → Latin Hypercube Sampling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CN" sz="1100">
                <a:solidFill>
                  <a:schemeClr val="dk1"/>
                </a:solidFill>
              </a:rPr>
              <a:t>Fit GP surrogate</a:t>
            </a:r>
            <a:r>
              <a:rPr lang="zh-CN" sz="1100">
                <a:solidFill>
                  <a:schemeClr val="dk1"/>
                </a:solidFill>
              </a:rPr>
              <a:t> on current FEM results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CN" sz="1100">
                <a:solidFill>
                  <a:schemeClr val="dk1"/>
                </a:solidFill>
              </a:rPr>
              <a:t>Select next point</a:t>
            </a:r>
            <a:br>
              <a:rPr b="1" lang="zh-CN" sz="1100">
                <a:solidFill>
                  <a:schemeClr val="dk1"/>
                </a:solidFill>
              </a:rPr>
            </a:br>
            <a:r>
              <a:rPr lang="zh-CN" sz="1100">
                <a:solidFill>
                  <a:schemeClr val="dk1"/>
                </a:solidFill>
              </a:rPr>
              <a:t>x_{\text{next}}=\arg\max \sigma^2(x)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CN" sz="1100">
                <a:solidFill>
                  <a:schemeClr val="dk1"/>
                </a:solidFill>
              </a:rPr>
              <a:t>Run FEM</a:t>
            </a:r>
            <a:r>
              <a:rPr lang="zh-CN" sz="1100">
                <a:solidFill>
                  <a:schemeClr val="dk1"/>
                </a:solidFill>
              </a:rPr>
              <a:t>, update GP, repeat until budget is reached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4216000" y="2422900"/>
            <a:ext cx="3987300" cy="14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700">
                <a:solidFill>
                  <a:schemeClr val="dk1"/>
                </a:solidFill>
              </a:rPr>
              <a:t>Example Result (Simplified)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100">
                <a:solidFill>
                  <a:schemeClr val="dk1"/>
                </a:solidFill>
              </a:rPr>
              <a:t>Sequential Design quickly reduced model uncertainty and concentrated FEM evaluations in informative regions.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289" y="3487975"/>
            <a:ext cx="4346624" cy="151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zh-CN" sz="2000"/>
              <a:t>Why use Sequential Design in Sun Sail FEM?</a:t>
            </a:r>
            <a:endParaRPr b="1"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CN" sz="1600">
                <a:solidFill>
                  <a:schemeClr val="dk1"/>
                </a:solidFill>
              </a:rPr>
              <a:t>The Sun Sail FEM model is computationally expensive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CN" sz="1600">
                <a:solidFill>
                  <a:schemeClr val="dk1"/>
                </a:solidFill>
              </a:rPr>
              <a:t>Total simulation budget is limited (≤ 200 runs)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CN" sz="1600">
                <a:solidFill>
                  <a:schemeClr val="dk1"/>
                </a:solidFill>
              </a:rPr>
              <a:t>Input parameters include 6 uncertain variables: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CN" sz="1600">
                <a:solidFill>
                  <a:schemeClr val="dk1"/>
                </a:solidFill>
              </a:rPr>
              <a:t>E_mem, 𝜈_mem, σ_mem, f_mem, σ_edg, σ_sup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CN" sz="1600">
                <a:solidFill>
                  <a:schemeClr val="dk1"/>
                </a:solidFill>
              </a:rPr>
              <a:t>Sequential design concentrates samples in regions where FEM response changes the most (high variance / uncertainty)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CN" sz="1600">
                <a:solidFill>
                  <a:schemeClr val="dk1"/>
                </a:solidFill>
              </a:rPr>
              <a:t>Prevents wasting runs in “flat” or unimportant regions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